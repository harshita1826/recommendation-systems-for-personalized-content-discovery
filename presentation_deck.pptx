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25" d="100"/>
          <a:sy n="125" d="100"/>
        </p:scale>
        <p:origin x="-110" y="-2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831473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02920" y="1071955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Recommendation Systems for Personalized Content Discovery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502920" y="2096083"/>
            <a:ext cx="2286000" cy="36576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02920" y="2278963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Dataset:  </a:t>
            </a: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Netflix Prize Dataset  •  100M+ ratings  •  480K users  •  17,770 movies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2644723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Models:  </a:t>
            </a: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Item-Based Collaborative Filtering  •  SVD (Matrix Factorization)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02920" y="3010483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Subset:  </a:t>
            </a: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50,000 users from combined_data_1.txt  |  Split: User-wise 80/20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57200" y="4709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  |  Recommender Systems  |  Matrix Factorization  |  Collaborative Filtering</a:t>
            </a:r>
            <a:endParaRPr lang="en-US" sz="1000" dirty="0"/>
          </a:p>
        </p:txBody>
      </p:sp>
      <p:sp>
        <p:nvSpPr>
          <p:cNvPr id="14" name="Text 8">
            <a:extLst>
              <a:ext uri="{FF2B5EF4-FFF2-40B4-BE49-F238E27FC236}">
                <a16:creationId xmlns:a16="http://schemas.microsoft.com/office/drawing/2014/main" id="{6066666F-EA8E-2278-1ECF-EB49E97FF64C}"/>
              </a:ext>
            </a:extLst>
          </p:cNvPr>
          <p:cNvSpPr/>
          <p:nvPr/>
        </p:nvSpPr>
        <p:spPr>
          <a:xfrm>
            <a:off x="6203852" y="3376243"/>
            <a:ext cx="2528668" cy="6713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Name: Harshita Gupta</a:t>
            </a:r>
          </a:p>
          <a:p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Enrollment no: 23113065</a:t>
            </a:r>
          </a:p>
          <a:p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Tech Civil </a:t>
            </a:r>
            <a:r>
              <a:rPr lang="en-US" sz="1200" b="1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Engg</a:t>
            </a: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OVERVIEW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594360"/>
            <a:ext cx="9144000" cy="457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65760" y="822960"/>
            <a:ext cx="4114800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9144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CHALLENGE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2920" y="1371600"/>
            <a:ext cx="38404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day, billions of users interact with recommendation engines that shape what they watch, listen to, and buy.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Netflix Prize was a landmark ML competition to improve movie recommendation accuracy - its dataset remains a benchmark for the field.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goal: build an intelligent engine that learns user preferences and generates meaningful, personalized recommendations.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846320" y="822960"/>
            <a:ext cx="384048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846320" y="86868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100M+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846320" y="141732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Ratings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846320" y="2011680"/>
            <a:ext cx="384048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846320" y="205740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480K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4846320" y="260604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Users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846320" y="3200400"/>
            <a:ext cx="384048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846320" y="324612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17,770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4846320" y="37947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65760" y="4526280"/>
            <a:ext cx="8412480" cy="457200"/>
          </a:xfrm>
          <a:prstGeom prst="roundRect">
            <a:avLst>
              <a:gd name="adj" fmla="val 12000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48640" y="4572000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Subset used: 50,000 randomly sampled users from combined_data_1.txt (~24M ratings) – done due to </a:t>
            </a:r>
            <a:r>
              <a:rPr lang="en-US" sz="1000" dirty="0" err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Colab</a:t>
            </a:r>
            <a:r>
              <a:rPr lang="en-US" sz="100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RAM constraints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APPROACH &amp; METHODOLOGY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594360"/>
            <a:ext cx="9144000" cy="457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777240"/>
            <a:ext cx="26517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29768" y="868680"/>
            <a:ext cx="384048" cy="384048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29768" y="868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86968" y="88696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Loading &amp; Cleaning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29768" y="1325880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Parsed 24M ratings from combined_data_1.txt. Validated rating range (1-5), dates (1999-2005), nulls and duplicates. Applied iterative filtering: min 10 ratings per user and per movie.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154680" y="777240"/>
            <a:ext cx="26517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264408" y="868680"/>
            <a:ext cx="384048" cy="384048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264408" y="868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721608" y="88696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EDA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264408" y="1325880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Analysed rating distributions, user/movie activity power laws, sparsity (~97%), time trends and rating bias. Identified key business insights to guide model design.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989320" y="777240"/>
            <a:ext cx="26517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6099048" y="868680"/>
            <a:ext cx="384048" cy="384048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099048" y="868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556248" y="88696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Train-Test Split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099048" y="1325880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User-wise 80/20 random split (seed 42). Every user appears in both train and test. Zero data leakage confirmed. Relevance threshold: rating ≥ 3.5 (as per PS).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20040" y="2788920"/>
            <a:ext cx="26517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29768" y="2880360"/>
            <a:ext cx="384048" cy="384048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29768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86968" y="289864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1: Item-Based CF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29768" y="3337560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 similarity between movie vectors. Weighted average of top-20 similar movies the user has rated. Falls back to global mean for cold-start.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154680" y="2788920"/>
            <a:ext cx="26517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3264408" y="2880360"/>
            <a:ext cx="384048" cy="384048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3264408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721608" y="289864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2: SVD (Matrix Factorization)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264408" y="3337560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Scikit-Surprise SVD with explicit user/item bias. Hyperparameter tuned via GridSearchCV (2-fold CV). Learns latent factors capturing hidden preferences.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989320" y="2788920"/>
            <a:ext cx="26517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6099048" y="2880360"/>
            <a:ext cx="384048" cy="384048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6099048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556248" y="289864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Evaluation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099048" y="3337560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Mandatory: RMSE (rating accuracy) and MAP@10 (ranking quality). Additional: MAE, within-0.5-star %, per-rating error breakdown.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INSIGHTS: EXPLORATORY DATA ANALYSIS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594360"/>
            <a:ext cx="9144000" cy="457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777240"/>
            <a:ext cx="42062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27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10058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INSERT CHART ]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2920" y="137160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Rating Distribution Bar Chart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(Actual % per star — shows positivity bias)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11480" y="80467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Rating Distribution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0040" y="2743200"/>
            <a:ext cx="42062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27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02920" y="29718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INSERT CHART ]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333756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Ratings per User Histogram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(Highlights power-law / long-tail distribution)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11480" y="277063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User Activity Distribution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54880" y="777240"/>
            <a:ext cx="406908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864608" y="886968"/>
            <a:ext cx="201168" cy="20116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120640" y="8503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Positivity Bias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64608" y="1161288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~60% of ratings are 4-5 stars. Users rate movies they chose to watch — selection bias. Justifies the PS relevance threshold of ≥ 3.5.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754880" y="1856232"/>
            <a:ext cx="406908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864608" y="1965960"/>
            <a:ext cx="201168" cy="20116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120640" y="192938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Power Law - Users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864608" y="224028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10% of users contribute the majority of all ratings. Most users have sparse histories, making cold-start a real challenge.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754880" y="2935224"/>
            <a:ext cx="406908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4864608" y="3044952"/>
            <a:ext cx="201168" cy="20116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120640" y="300837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Power Law - Movies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864608" y="3319272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Blockbusters dominate; most movies are niche with few ratings. Long-tail distribution makes recommendation systems essential.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754880" y="4014216"/>
            <a:ext cx="406908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4864608" y="4123944"/>
            <a:ext cx="201168" cy="20116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120640" y="408736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Rating Bias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864608" y="4398264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Significant user-level bias: some users consistently rate high (lenient), others low (harsh). SVD's explicit bias terms directly address this.</a:t>
            </a:r>
            <a:endParaRPr lang="en-US" sz="950" dirty="0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98C1DB4E-CC59-C57B-01A0-973A337000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777240"/>
            <a:ext cx="4206239" cy="182880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3661F9C7-9DB2-C555-E035-DB612BDEDD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2743200"/>
            <a:ext cx="420624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EXPERIMENTAL RESULTS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594360"/>
            <a:ext cx="9144000" cy="457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65760" y="749808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Performance Comparison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61148"/>
              </p:ext>
            </p:extLst>
          </p:nvPr>
        </p:nvGraphicFramePr>
        <p:xfrm>
          <a:off x="365760" y="1097280"/>
          <a:ext cx="3488788" cy="2063496"/>
        </p:xfrm>
        <a:graphic>
          <a:graphicData uri="http://schemas.openxmlformats.org/drawingml/2006/table">
            <a:tbl>
              <a:tblPr/>
              <a:tblGrid>
                <a:gridCol w="11417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46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119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6119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Metric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Baseline (Global Mean)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Item-Based CF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SVD ★ Best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</a:rPr>
                        <a:t>RMSE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1.0844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/>
                        <a:t>0.9561</a:t>
                      </a: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3B82F6"/>
                          </a:solidFill>
                        </a:rPr>
                        <a:t>0.8938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</a:rPr>
                        <a:t>MAE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0.9086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0.7456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3B82F6"/>
                          </a:solidFill>
                        </a:rPr>
                        <a:t>0.7019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</a:rPr>
                        <a:t>MAP@10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N/A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0.7187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kern="1200" dirty="0">
                          <a:solidFill>
                            <a:srgbClr val="3B82F6"/>
                          </a:solidFill>
                          <a:latin typeface="+mn-lt"/>
                          <a:ea typeface="+mn-ea"/>
                          <a:cs typeface="+mn-cs"/>
                        </a:rPr>
                        <a:t>0.7627</a:t>
                      </a: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</a:rPr>
                        <a:t>Within ±0.5 stars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N/A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41.8%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3B82F6"/>
                          </a:solidFill>
                        </a:rPr>
                        <a:t>~43.9%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577840" y="749808"/>
            <a:ext cx="3337560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27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5715000" y="11430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INSERT CHART ]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5715000" y="15087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 &amp; MAP@10 Bar Comparison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(Baseline vs Item-Based CF vs SVD)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Step 16, Cell 205 — plt.subplots(1,3) figure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623560" y="786384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Model Comparison Chart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65760" y="3383280"/>
            <a:ext cx="841248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594360" y="345643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SVD Configuration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34573" y="379476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Latent Factors:  </a:t>
            </a: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from </a:t>
            </a:r>
            <a:r>
              <a:rPr lang="en-US" sz="10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GridSearchCV</a:t>
            </a: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(125)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534573" y="409651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Epochs:  </a:t>
            </a: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from </a:t>
            </a:r>
            <a:r>
              <a:rPr lang="en-US" sz="10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GridSearchCV</a:t>
            </a: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(20)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534573" y="4398264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Rate:  </a:t>
            </a: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0.005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4892040" y="3785616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Regularization:  </a:t>
            </a: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from GridSearchCV (0.02/0.05)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4892040" y="420624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 Strategy:  </a:t>
            </a: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2-fold GridSearchCV  |  Random seed 42</a:t>
            </a:r>
            <a:endParaRPr lang="en-US" sz="1000" dirty="0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43283628-3C15-941D-11BF-4E01F82FC04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0370" r="33807"/>
          <a:stretch>
            <a:fillRect/>
          </a:stretch>
        </p:blipFill>
        <p:spPr>
          <a:xfrm>
            <a:off x="4037428" y="749808"/>
            <a:ext cx="4888523" cy="24688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RECOMMENDATION EXAMPLES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594360"/>
            <a:ext cx="9144000" cy="457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777240"/>
            <a:ext cx="4114800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8229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👤  User History (Top Rated - Train Set)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3840480" cy="2743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3840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endParaRPr lang="en-US" sz="950" dirty="0">
              <a:solidFill>
                <a:srgbClr val="64748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709160" y="777240"/>
            <a:ext cx="4114800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846320" y="8229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🎬  Top-10 Recommendations (SVD)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846320" y="1170432"/>
            <a:ext cx="3840480" cy="2743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846320" y="1234440"/>
            <a:ext cx="3840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20040" y="3429000"/>
            <a:ext cx="4114800" cy="1508760"/>
          </a:xfrm>
          <a:prstGeom prst="roundRect">
            <a:avLst>
              <a:gd name="adj" fmla="val 4848"/>
            </a:avLst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  <a:effectLst>
            <a:outerShdw blurRad="101600" dist="25400" dir="27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57200" y="349300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580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✅  Success Case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3822192"/>
            <a:ext cx="3840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Popular movies with many ratings → strong item similarity signals. Active users with rich history → accurate neighbourhood. Predictions within ±0.5 stars. (Replace with a specific example from your notebook output — Step 14/Cell 165)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709160" y="3429000"/>
            <a:ext cx="4114800" cy="1508760"/>
          </a:xfrm>
          <a:prstGeom prst="roundRect">
            <a:avLst>
              <a:gd name="adj" fmla="val 4848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  <a:effectLst>
            <a:outerShdw blurRad="101600" dist="25400" dir="27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846320" y="349300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9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❌  Failure Case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846320" y="3822192"/>
            <a:ext cx="3840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Niche movies with sparse ratings → weak or no similarity signal → fallback to global mean. Users with unique tastes poorly served. Error ≥ 2 stars. (Replace with a specific example from Step 14/Cell 167)</a:t>
            </a:r>
            <a:endParaRPr lang="en-US" sz="950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03A28536-8737-CC8C-74E5-14D3B2DDEB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3246699" cy="1762494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80EA2F4B-ED49-FF90-35D4-8C01B262EE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4271" y="1480877"/>
            <a:ext cx="3902529" cy="138743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COMPARISON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594360"/>
            <a:ext cx="9144000" cy="457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777240"/>
            <a:ext cx="4160520" cy="4160520"/>
          </a:xfrm>
          <a:prstGeom prst="roundRect">
            <a:avLst>
              <a:gd name="adj" fmla="val 175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25400" dir="27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84632" y="85039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84632" y="1115568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Item-Based Collaborative Filtering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4632" y="1554480"/>
            <a:ext cx="3840480" cy="27432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84632" y="164592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84632" y="192024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</a:t>
            </a: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Intuitive: finds movies similar to what you liked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84632" y="226771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</a:t>
            </a: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Interpretable: similarity scores are transparent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84632" y="2615184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</a:t>
            </a: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training phase: computes on demand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84632" y="305409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84632" y="3328416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 </a:t>
            </a: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user bias correction (harsh vs lenient raters)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84632" y="3648456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 </a:t>
            </a: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Struggles with sparse / niche movies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84632" y="3968496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 </a:t>
            </a: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Popularity bias: favours blockbusters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84632" y="4288536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 </a:t>
            </a: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capture latent preferences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846320" y="777240"/>
            <a:ext cx="4160520" cy="4160520"/>
          </a:xfrm>
          <a:prstGeom prst="roundRect">
            <a:avLst>
              <a:gd name="adj" fmla="val 1758"/>
            </a:avLst>
          </a:prstGeom>
          <a:solidFill>
            <a:srgbClr val="FFFFFF"/>
          </a:solidFill>
          <a:ln w="12700">
            <a:solidFill>
              <a:srgbClr val="93C5FD"/>
            </a:solidFill>
            <a:prstDash val="solid"/>
          </a:ln>
          <a:effectLst>
            <a:outerShdw blurRad="101600" dist="25400" dir="27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010912" y="85039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2  ★ Winner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010912" y="1115568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SVD — Matrix Factorization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010912" y="1554480"/>
            <a:ext cx="3840480" cy="27432"/>
          </a:xfrm>
          <a:prstGeom prst="rect">
            <a:avLst/>
          </a:prstGeom>
          <a:solidFill>
            <a:srgbClr val="93C5FD"/>
          </a:solidFill>
          <a:ln w="12700">
            <a:solidFill>
              <a:srgbClr val="93C5F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010912" y="164592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10912" y="192024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</a:t>
            </a: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user &amp; item bias terms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010912" y="226771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</a:t>
            </a: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Captures latent factors (genres, themes)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010912" y="2615184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</a:t>
            </a: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generalisation on sparse data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010912" y="2962656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</a:t>
            </a: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Industry-standard for large-scale systems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010912" y="340156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010912" y="367588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 </a:t>
            </a: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Black-box: harder to explain recommendations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010912" y="399592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 </a:t>
            </a: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retraining as new data arrives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010912" y="431596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 </a:t>
            </a: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Cold-start for unseen users / movies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20040" y="4983480"/>
            <a:ext cx="8503920" cy="45720"/>
          </a:xfrm>
          <a:prstGeom prst="roundRect">
            <a:avLst>
              <a:gd name="adj" fmla="val 120000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73152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TAKEAWAYS &amp; FUTURE IMPROVEMENTS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320040" y="685800"/>
            <a:ext cx="416052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27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02920" y="850392"/>
            <a:ext cx="45720" cy="5029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82296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SVD Wins on Both Metrics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1252728"/>
            <a:ext cx="3703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SVD outperforms Item-Based CF on both RMSE (rating accuracy) and MAP@10 (ranking quality). Bias modelling and latent factor decomposition are key advantages.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846320" y="685800"/>
            <a:ext cx="416052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27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5029200" y="850392"/>
            <a:ext cx="45720" cy="5029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166360" y="82296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Power Laws Drive Design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166360" y="1252728"/>
            <a:ext cx="3703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User/movie power-law distributions confirm that sparsity handling is essential. Min-10 filtering and user-wise splits are justified by the data.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697480"/>
            <a:ext cx="416052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27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502920" y="2862072"/>
            <a:ext cx="45720" cy="5029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40080" y="283464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Relevance Threshold = 3.5 ★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3264408"/>
            <a:ext cx="3703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~60% of ratings are ≥ 4 stars. The PS threshold of 3.5 cleanly separates genuine positives from neutral/negative interactions.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846320" y="2697480"/>
            <a:ext cx="416052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27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5029200" y="2862072"/>
            <a:ext cx="45720" cy="5029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166360" y="283464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 &amp; Next Steps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166360" y="3264408"/>
            <a:ext cx="3703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Cold-start for new users/movies remains unsolved. Future work: hybrid models incorporating content metadata, neural collaborative filtering (NCF), explainability layer.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1025</Words>
  <Application>Microsoft Office PowerPoint</Application>
  <PresentationFormat>On-screen Show (16:9)</PresentationFormat>
  <Paragraphs>138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Recommendation Systems for Personalized Content Discovery</dc:title>
  <dc:subject>PptxGenJS Presentation</dc:subject>
  <dc:creator>PptxGenJS</dc:creator>
  <cp:lastModifiedBy>HARSHITA GUPTA</cp:lastModifiedBy>
  <cp:revision>6</cp:revision>
  <dcterms:created xsi:type="dcterms:W3CDTF">2026-06-12T16:40:45Z</dcterms:created>
  <dcterms:modified xsi:type="dcterms:W3CDTF">2026-06-12T17:31:06Z</dcterms:modified>
</cp:coreProperties>
</file>