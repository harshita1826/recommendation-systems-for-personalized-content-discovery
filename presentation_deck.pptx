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14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71955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Systems for Personalized Content Discovery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2096083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27896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 Dataset  •  100M+ ratings  •  480K users  •  17,770 movies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4472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Collaborative Filtering  •  SVD (Matrix Factorization)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1048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users from combined_data_1.txt  |  Split: User-wise 80/20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Recommender Systems  |  Matrix Factorization  |  Collaborative Filtering</a:t>
            </a:r>
            <a:endParaRPr lang="en-US"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066666F-EA8E-2278-1ECF-EB49E97FF64C}"/>
              </a:ext>
            </a:extLst>
          </p:cNvPr>
          <p:cNvSpPr/>
          <p:nvPr/>
        </p:nvSpPr>
        <p:spPr>
          <a:xfrm>
            <a:off x="6203852" y="3376243"/>
            <a:ext cx="2528668" cy="67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Harshita Gupta</a:t>
            </a:r>
          </a:p>
          <a:p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23113065</a:t>
            </a:r>
          </a:p>
          <a:p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Tech Civil </a:t>
            </a:r>
            <a:r>
              <a:rPr lang="en-US" sz="12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Engg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billions of users interact with recommendation engines that shape what they watch, listen to, and buy.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Netflix Prize was a landmark ML competition to improve movie recommendation accuracy - its dataset remains a benchmark for the field.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build an intelligent engine that learns user preferences and generates meaningful, personalized recommendations.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868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Ratings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20040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17,770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Subset used: 50,000 randomly sampled users from combined_data_1.txt (~24M ratings) – done due to </a:t>
            </a:r>
            <a:r>
              <a:rPr lang="en-US" sz="1000" dirty="0" err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 constraints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86868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886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 &amp;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325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24M ratings from combined_data_1.txt. Validated rating range (1-5), dates (1999-2005), nulls and duplicates. Applied iterative filtering: min 10 ratings per user and per movie.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86868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21608" y="886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325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rating distributions, user/movie activity power laws, sparsity (~97%), time trends and rating bias. Identified key business insights to guide model design.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7772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99048" y="86868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9048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56248" y="886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9048" y="1325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User-wise 80/20 random split (seed 42). Every user appears in both train and test. Zero data leakage confirmed. Relevance threshold: rating ≥ 3.5 (as per PS).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" y="28803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1: Item-Based CF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337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movie vectors. Weighted average of top-20 similar movies the user has rated. Falls back to global mean for cold-start.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788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64408" y="28803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644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21608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2: SVD (Matrix Factorization)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64408" y="3337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Scikit-Surprise SVD with explicit user/item bias. Hyperparameter tuned via GridSearchCV (2-fold CV). Learns latent factors capturing hidden preferences.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2788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99048" y="2880360"/>
            <a:ext cx="384048" cy="38404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9904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56248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9048" y="3337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Mandatory: RMSE (rating accuracy) and MAP@10 (ranking quality). Additional: MAE, within-0.5-star %, per-rating error breakdown.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INSIGHTS: EXPLORATORY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&amp; User Activity Distribution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Popularity Distribution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88696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850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Positivity Bias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161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ratings are 4-5 stars. Users rate movies they chose to watch — selection bias. Justifies the PS relevance threshold of ≥ 3.5.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856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64608" y="196596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1929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User Activity Distribution</a:t>
            </a:r>
          </a:p>
        </p:txBody>
      </p:sp>
      <p:sp>
        <p:nvSpPr>
          <p:cNvPr id="20" name="Text 18"/>
          <p:cNvSpPr/>
          <p:nvPr/>
        </p:nvSpPr>
        <p:spPr>
          <a:xfrm>
            <a:off x="4864608" y="2240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users contribute the majority of all ratings. Most users have sparse histories, making cold-start a real challenge.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935224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64608" y="304495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Movie Popularity Distribution</a:t>
            </a:r>
          </a:p>
        </p:txBody>
      </p:sp>
      <p:sp>
        <p:nvSpPr>
          <p:cNvPr id="24" name="Text 22"/>
          <p:cNvSpPr/>
          <p:nvPr/>
        </p:nvSpPr>
        <p:spPr>
          <a:xfrm>
            <a:off x="4864608" y="3319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Blockbusters dominate; most movies are niche with few ratings. Long-tail distribution makes recommendation systems essential.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4014216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412394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Bias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398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user-level bias: some users consistently rate high (lenient), others low (harsh). SVD's explicit bias terms directly address this.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8C1DB4E-CC59-C57B-01A0-973A3370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76" y="1039515"/>
            <a:ext cx="2004645" cy="14101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661F9C7-9DB2-C555-E035-DB612BDED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136" y="1039514"/>
            <a:ext cx="2148840" cy="15756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87253CB-E9C2-CEC7-3A0A-4CC3E8BEE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61" y="3017521"/>
            <a:ext cx="4148809" cy="147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148"/>
              </p:ext>
            </p:extLst>
          </p:nvPr>
        </p:nvGraphicFramePr>
        <p:xfrm>
          <a:off x="365760" y="1097280"/>
          <a:ext cx="3488788" cy="2063496"/>
        </p:xfrm>
        <a:graphic>
          <a:graphicData uri="http://schemas.openxmlformats.org/drawingml/2006/table">
            <a:tbl>
              <a:tblPr/>
              <a:tblGrid>
                <a:gridCol w="1141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 (Global Mean)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Item-Based CF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SVD ★ Best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1.0844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/>
                        <a:t>0.9561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0.8938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0.9086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0.7456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0.7019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MAP@10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0.7187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1200" dirty="0">
                          <a:solidFill>
                            <a:srgbClr val="3B82F6"/>
                          </a:solidFill>
                          <a:latin typeface="+mn-lt"/>
                          <a:ea typeface="+mn-ea"/>
                          <a:cs typeface="+mn-cs"/>
                        </a:rPr>
                        <a:t>0.7627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Within ±0.5 stars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~43.9%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749808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CHART 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1508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&amp; MAP@10 Bar Comparison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vs Item-Based CF vs SVD)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Step 16, Cell 205 — plt.subplots(1,3) figure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3560" y="786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 Comparison Chart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3383280"/>
            <a:ext cx="8412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Configuration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4573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Factors: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from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(125)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4573" y="4096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from </a:t>
            </a:r>
            <a:r>
              <a:rPr lang="en-US" sz="10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4573" y="4398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92040" y="3785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from GridSearchCV (0.02/0.05)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Strategy: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2-fold GridSearchCV  |  Random seed 42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3283628-3C15-941D-11BF-4E01F82FC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70" r="33807"/>
          <a:stretch>
            <a:fillRect/>
          </a:stretch>
        </p:blipFill>
        <p:spPr>
          <a:xfrm>
            <a:off x="4037428" y="749808"/>
            <a:ext cx="4888523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User History (Top Rated - Train Set)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840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 Top-10 Recommendations (SVD)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70432"/>
            <a:ext cx="3840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Success 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2219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movies with many ratings → strong item similarity signals. Active users with rich history → accurate neighbourhood. Predictions within ±0.5 stars. (Replace with a specific example from your notebook output — Step 14/Cell 165)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342900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493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Failure Case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82219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movies with sparse ratings → weak or no similarity signal → fallback to global mean. Users with unique tastes poorly served. Error ≥ 2 stars. (Replace with a specific example from Step 14/Cell 167)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A28536-8737-CC8C-74E5-14D3B2DDE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246699" cy="17624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EA2F4B-ED49-FF90-35D4-8C01B262E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271" y="1480877"/>
            <a:ext cx="3902529" cy="1387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Item-Based Collaborative Filtering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554480"/>
            <a:ext cx="38404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Intuitive: finds movies similar to what you liked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similarity scores are transparent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615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phase: computes on demand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3328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bias correction (harsh vs lenient raters)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36484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sparse / niche movies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3968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bias: favours blockbusters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" y="4288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latent preferences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77724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 ★ Winner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912" y="1115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— Matrix Factorization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10912" y="1554480"/>
            <a:ext cx="3840480" cy="274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10912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user &amp; item bias terms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0912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latent factors (genres, themes)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10912" y="2615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generalisation on sparse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29626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for large-scale systems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10912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0912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Black-box: harder to explain recommendations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3995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retraining as new data arrives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for unseen users / movies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983480"/>
            <a:ext cx="8503920" cy="45720"/>
          </a:xfrm>
          <a:prstGeom prst="roundRect">
            <a:avLst>
              <a:gd name="adj" fmla="val 12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FUTURE IMPROVEMENTS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850392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Wins on Both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5272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outperforms Item-Based CF on both RMSE (rating accuracy) and MAP@10 (ranking quality). Bias modelling and latent factor decomposition are key advantages.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6858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850392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822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Laws Drive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25272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User/movie power-law distributions confirm that sparsity handling is essential. Min-10 filtering and user-wise splits are justified by the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862072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Threshold = 3.5 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ratings are ≥ 4 stars. The PS threshold of 3.5 cleanly separates genuine positives from neutral/negative interactions.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974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0" y="2862072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2834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3264408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for new users/movies remains unsolved. Future work: hybrid models incorporating content metadata, neural collaborative filtering (NCF), explainability layer.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992</Words>
  <Application>Microsoft Office PowerPoint</Application>
  <PresentationFormat>On-screen Show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Systems for Personalized Content Discovery</dc:title>
  <dc:subject>PptxGenJS Presentation</dc:subject>
  <dc:creator>PptxGenJS</dc:creator>
  <cp:lastModifiedBy>HARSHITA GUPTA</cp:lastModifiedBy>
  <cp:revision>7</cp:revision>
  <dcterms:created xsi:type="dcterms:W3CDTF">2026-06-12T16:40:45Z</dcterms:created>
  <dcterms:modified xsi:type="dcterms:W3CDTF">2026-06-12T18:24:31Z</dcterms:modified>
</cp:coreProperties>
</file>